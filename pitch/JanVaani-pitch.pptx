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ordmark"/>
          <p:cNvSpPr txBox="1"/>
          <p:nvPr/>
        </p:nvSpPr>
        <p:spPr>
          <a:xfrm>
            <a:off x="475488" y="146304"/>
            <a:ext cx="6766560" cy="365760"/>
          </a:xfrm>
          <a:prstGeom prst="rect">
            <a:avLst/>
          </a:prstGeom>
          <a:noFill/>
        </p:spPr>
        <p:txBody>
          <a:bodyPr wrap="square" lIns="18288" rIns="18288" tIns="0" bIns="0" anchor="ctr" compatLnSpc="1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JanVaani</a:t>
            </a:r>
            <a:r>
              <a:rPr sz="1600" b="0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600" b="1" i="0" lang="hi-IN" dirty="0">
                <a:solidFill>
                  <a:srgbClr val="2A2018"/>
                </a:solidFill>
                <a:latin typeface="Noto Sans Devanagari"/>
                <a:ea typeface="Noto Sans Devanagari"/>
                <a:cs typeface="Noto Sans Devanagari"/>
              </a:rPr>
              <a:t>जनवाणी</a:t>
            </a:r>
          </a:p>
        </p:txBody>
      </p:sp>
      <p:sp>
        <p:nvSpPr>
          <p:cNvPr id="3" name="event"/>
          <p:cNvSpPr txBox="1"/>
          <p:nvPr/>
        </p:nvSpPr>
        <p:spPr>
          <a:xfrm>
            <a:off x="5760720" y="146304"/>
            <a:ext cx="5943600" cy="365760"/>
          </a:xfrm>
          <a:prstGeom prst="rect">
            <a:avLst/>
          </a:prstGeom>
          <a:noFill/>
        </p:spPr>
        <p:txBody>
          <a:bodyPr wrap="square" lIns="18288" rIns="18288" tIns="0" bIns="0" anchor="ctr" compatLnSpc="1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 dirty="0">
                <a:solidFill>
                  <a:srgbClr val="B04E2A"/>
                </a:solidFill>
                <a:latin typeface="Calibri"/>
                <a:ea typeface="Calibri"/>
                <a:cs typeface="Calibri"/>
              </a:rPr>
              <a:t>Ignite With Bangalore · SLNG</a:t>
            </a:r>
          </a:p>
        </p:txBody>
      </p:sp>
      <p:sp>
        <p:nvSpPr>
          <p:cNvPr id="4" name="rule"/>
          <p:cNvSpPr/>
          <p:nvPr/>
        </p:nvSpPr>
        <p:spPr>
          <a:xfrm>
            <a:off x="475488" y="548640"/>
            <a:ext cx="11237976" cy="16459"/>
          </a:xfrm>
          <a:prstGeom prst="rect">
            <a:avLst/>
          </a:prstGeom>
          <a:solidFill>
            <a:srgbClr val="B0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indi"/>
          <p:cNvSpPr txBox="1"/>
          <p:nvPr/>
        </p:nvSpPr>
        <p:spPr>
          <a:xfrm>
            <a:off x="475488" y="676656"/>
            <a:ext cx="11237976" cy="713232"/>
          </a:xfrm>
          <a:prstGeom prst="rect">
            <a:avLst/>
          </a:prstGeom>
          <a:noFill/>
        </p:spPr>
        <p:txBody>
          <a:bodyPr wrap="square" lIns="18288" rIns="18288" tIns="0" bIns="0" anchor="ctr" compatLnSpc="1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hi-IN" dirty="0">
                <a:solidFill>
                  <a:srgbClr val="2A2018"/>
                </a:solidFill>
                <a:latin typeface="Noto Sans Devanagari"/>
                <a:ea typeface="Noto Sans Devanagari"/>
                <a:cs typeface="Noto Sans Devanagari"/>
              </a:rPr>
              <a:t>घर की भाषा काफी है।</a:t>
            </a:r>
          </a:p>
        </p:txBody>
      </p:sp>
      <p:sp>
        <p:nvSpPr>
          <p:cNvPr id="6" name="english"/>
          <p:cNvSpPr txBox="1"/>
          <p:nvPr/>
        </p:nvSpPr>
        <p:spPr>
          <a:xfrm>
            <a:off x="475488" y="1371600"/>
            <a:ext cx="11237976" cy="365760"/>
          </a:xfrm>
          <a:prstGeom prst="rect">
            <a:avLst/>
          </a:prstGeom>
          <a:noFill/>
        </p:spPr>
        <p:txBody>
          <a:bodyPr wrap="square" lIns="18288" rIns="18288" tIns="0" bIns="0" anchor="t" compatLnSpc="1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 dirty="0">
                <a:solidFill>
                  <a:srgbClr val="B04E2A"/>
                </a:solidFill>
                <a:latin typeface="Calibri"/>
                <a:ea typeface="Calibri"/>
                <a:cs typeface="Calibri"/>
              </a:rPr>
              <a:t>Your own language is enough.</a:t>
            </a:r>
          </a:p>
        </p:txBody>
      </p:sp>
      <p:sp>
        <p:nvSpPr>
          <p:cNvPr id="7" name="how-card"/>
          <p:cNvSpPr/>
          <p:nvPr/>
        </p:nvSpPr>
        <p:spPr>
          <a:xfrm>
            <a:off x="475488" y="1847088"/>
            <a:ext cx="5669280" cy="290779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E3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37744" tIns="146304" bIns="146304" compatLnSpc="1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A person speaks in their own language. The English welfare form fills itself.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Ten schemes are matched by a deterministic rule engine. The model never decides eligibility.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They leave with a printed CSC Ready Slip.</a:t>
            </a:r>
          </a:p>
        </p:txBody>
      </p:sp>
      <p:sp>
        <p:nvSpPr>
          <p:cNvPr id="8" name="example-card"/>
          <p:cNvSpPr/>
          <p:nvPr/>
        </p:nvSpPr>
        <p:spPr>
          <a:xfrm>
            <a:off x="6309360" y="1847088"/>
            <a:ext cx="5404104" cy="290779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E3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 compatLnSpc="1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1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“Main Kolar se hoon, do acre tamatar, umar 45, pitaji 72.”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The form fills in District Kolar, 2 acres, farmer, and family 70+.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en-US" dirty="0">
                <a:solidFill>
                  <a:srgbClr val="2E5A3E"/>
                </a:solidFill>
                <a:latin typeface="Calibri"/>
                <a:ea typeface="Calibri"/>
                <a:cs typeface="Calibri"/>
              </a:rPr>
              <a:t>The rules match PM-KISAN, Ayushman Bharat, Vay Vandana, and crop insurance.</a:t>
            </a:r>
          </a:p>
        </p:txBody>
      </p:sp>
      <p:sp>
        <p:nvSpPr>
          <p:cNvPr id="9" name="languages"/>
          <p:cNvSpPr txBox="1"/>
          <p:nvPr/>
        </p:nvSpPr>
        <p:spPr>
          <a:xfrm>
            <a:off x="475488" y="4864608"/>
            <a:ext cx="11237976" cy="384048"/>
          </a:xfrm>
          <a:prstGeom prst="rect">
            <a:avLst/>
          </a:prstGeom>
          <a:noFill/>
        </p:spPr>
        <p:txBody>
          <a:bodyPr wrap="square" lIns="36576" rIns="36576" tIns="0" bIns="0" anchor="ctr" compatLnSpc="1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Hindi, Kannada, Telugu, Tamil, Marathi, Punjabi, Bhojpuri, Assamese, English.</a:t>
            </a:r>
          </a:p>
        </p:txBody>
      </p:sp>
      <p:sp>
        <p:nvSpPr>
          <p:cNvPr id="10" name="checks"/>
          <p:cNvSpPr/>
          <p:nvPr/>
        </p:nvSpPr>
        <p:spPr>
          <a:xfrm>
            <a:off x="475488" y="5340096"/>
            <a:ext cx="11237976" cy="1207008"/>
          </a:xfrm>
          <a:prstGeom prst="roundRect">
            <a:avLst>
              <a:gd name="adj" fmla="val 8000"/>
            </a:avLst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91440" bIns="91440" compatLnSpc="1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 lang="en-US" dirty="0">
                <a:solidFill>
                  <a:srgbClr val="F6F1E8"/>
                </a:solidFill>
                <a:latin typeface="Calibri"/>
                <a:ea typeface="Calibri"/>
                <a:cs typeface="Calibri"/>
              </a:rPr>
              <a:t>Live Call (full-duplex) lets a person speak while the agent is still talking.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 dirty="0">
                <a:solidFill>
                  <a:srgbClr val="F6F1E8"/>
                </a:solidFill>
                <a:latin typeface="Calibri"/>
                <a:ea typeface="Calibri"/>
                <a:cs typeface="Calibri"/>
              </a:rPr>
              <a:t>Three pre-CSC checks come before the trip: the Aadhaar and ration-card name, the linked mobile, and the seeded bank account.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withEffect" dur="indefinite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 grpId="0" dur="560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6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6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6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6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presetID="10" presetClass="entr" presetSubtype="0" fill="hold" nodeType="withEffect" grpId="0" dur="560">
                            <p:stCondLst>
                              <p:cond delay="160"/>
                            </p:stCondLst>
                            <p:childTnLst>
                              <p:par>
                                <p:cTn id="1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6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presetID="10" presetClass="entr" presetSubtype="0" fill="hold" nodeType="withEffect" grpId="0" dur="560">
                            <p:stCondLst>
                              <p:cond delay="340"/>
                            </p:stCondLst>
                            <p:childTnLst>
                              <p:par>
                                <p:cTn id="23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6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presetID="10" presetClass="entr" presetSubtype="0" fill="hold" nodeType="withEffect" grpId="0" dur="560">
                            <p:stCondLst>
                              <p:cond delay="520"/>
                            </p:stCondLst>
                            <p:childTnLst>
                              <p:par>
                                <p:cTn id="2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6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presetID="10" presetClass="entr" presetSubtype="0" fill="hold" nodeType="withEffect" grpId="0" dur="560">
                            <p:stCondLst>
                              <p:cond delay="700"/>
                            </p:stCondLst>
                            <p:childTnLst>
                              <p:par>
                                <p:cTn id="33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6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presetID="10" presetClass="entr" presetSubtype="0" fill="hold" nodeType="withEffect" grpId="0" dur="560">
                            <p:stCondLst>
                              <p:cond delay="880"/>
                            </p:stCondLst>
                            <p:childTnLst>
                              <p:par>
                                <p:cTn id="3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6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6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presetID="10" presetClass="entr" presetSubtype="0" fill="hold" nodeType="afterEffect" grpId="0" dur="560">
                            <p:stCondLst>
                              <p:cond evt="end" delay="80">
                                <p:tn val="37"/>
                              </p:cond>
                            </p:stCondLst>
                            <p:childTnLst>
                              <p:par>
                                <p:cTn id="43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6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6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ordmark"/>
          <p:cNvSpPr txBox="1"/>
          <p:nvPr/>
        </p:nvSpPr>
        <p:spPr>
          <a:xfrm>
            <a:off x="475488" y="146304"/>
            <a:ext cx="6766560" cy="365760"/>
          </a:xfrm>
          <a:prstGeom prst="rect">
            <a:avLst/>
          </a:prstGeom>
          <a:noFill/>
        </p:spPr>
        <p:txBody>
          <a:bodyPr wrap="square" lIns="18288" rIns="18288" tIns="0" bIns="0" anchor="ctr" compatLnSpc="1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JanVaani</a:t>
            </a:r>
            <a:r>
              <a:rPr sz="1600" b="0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600" b="1" i="0" lang="hi-IN" dirty="0">
                <a:solidFill>
                  <a:srgbClr val="2A2018"/>
                </a:solidFill>
                <a:latin typeface="Noto Sans Devanagari"/>
                <a:ea typeface="Noto Sans Devanagari"/>
                <a:cs typeface="Noto Sans Devanagari"/>
              </a:rPr>
              <a:t>जनवाणी</a:t>
            </a:r>
          </a:p>
        </p:txBody>
      </p:sp>
      <p:sp>
        <p:nvSpPr>
          <p:cNvPr id="3" name="event"/>
          <p:cNvSpPr txBox="1"/>
          <p:nvPr/>
        </p:nvSpPr>
        <p:spPr>
          <a:xfrm>
            <a:off x="5760720" y="146304"/>
            <a:ext cx="5943600" cy="365760"/>
          </a:xfrm>
          <a:prstGeom prst="rect">
            <a:avLst/>
          </a:prstGeom>
          <a:noFill/>
        </p:spPr>
        <p:txBody>
          <a:bodyPr wrap="square" lIns="18288" rIns="18288" tIns="0" bIns="0" anchor="ctr" compatLnSpc="1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 dirty="0">
                <a:solidFill>
                  <a:srgbClr val="B04E2A"/>
                </a:solidFill>
                <a:latin typeface="Calibri"/>
                <a:ea typeface="Calibri"/>
                <a:cs typeface="Calibri"/>
              </a:rPr>
              <a:t>Ignite With Bangalore · SLNG</a:t>
            </a:r>
          </a:p>
        </p:txBody>
      </p:sp>
      <p:sp>
        <p:nvSpPr>
          <p:cNvPr id="4" name="rule"/>
          <p:cNvSpPr/>
          <p:nvPr/>
        </p:nvSpPr>
        <p:spPr>
          <a:xfrm>
            <a:off x="475488" y="548640"/>
            <a:ext cx="11237976" cy="16459"/>
          </a:xfrm>
          <a:prstGeom prst="rect">
            <a:avLst/>
          </a:prstGeom>
          <a:solidFill>
            <a:srgbClr val="B0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475488" y="676656"/>
            <a:ext cx="11237976" cy="640080"/>
          </a:xfrm>
          <a:prstGeom prst="rect">
            <a:avLst/>
          </a:prstGeom>
          <a:noFill/>
        </p:spPr>
        <p:txBody>
          <a:bodyPr wrap="square" lIns="18288" rIns="18288" tIns="0" bIns="0" anchor="ctr" compatLnSpc="1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People can read. The form still stops them.</a:t>
            </a:r>
          </a:p>
        </p:txBody>
      </p:sp>
      <p:sp>
        <p:nvSpPr>
          <p:cNvPr id="6" name="bits-card"/>
          <p:cNvSpPr/>
          <p:nvPr/>
        </p:nvSpPr>
        <p:spPr>
          <a:xfrm>
            <a:off x="475488" y="1426464"/>
            <a:ext cx="5669280" cy="2706624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E3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19456" tIns="146304" bIns="128016" compatLnSpc="1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en-US" dirty="0">
                <a:solidFill>
                  <a:srgbClr val="B04E2A"/>
                </a:solidFill>
                <a:latin typeface="Calibri"/>
                <a:ea typeface="Calibri"/>
                <a:cs typeface="Calibri"/>
              </a:rPr>
              <a:t>BITS Hyderabad, 2025  ·  myScheme study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 lang="en-US" dirty="0">
                <a:solidFill>
                  <a:srgbClr val="B04E2A"/>
                </a:solidFill>
                <a:latin typeface="Calibri"/>
                <a:ea typeface="Calibri"/>
                <a:cs typeface="Calibri"/>
              </a:rPr>
              <a:t>2 of 15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Only 2 of 15 low-income workers finished the eligibility form unaided. Blockers were vocabulary (Area type, Sector organised/unorganised, BPL), not literacy.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en-US" dirty="0">
                <a:solidFill>
                  <a:srgbClr val="2E5A3E"/>
                </a:solidFill>
                <a:latin typeface="Calibri"/>
                <a:ea typeface="Calibri"/>
                <a:cs typeface="Calibri"/>
              </a:rPr>
              <a:t>By voice the same task took 49 seconds instead of 118.</a:t>
            </a:r>
          </a:p>
        </p:txBody>
      </p:sp>
      <p:sp>
        <p:nvSpPr>
          <p:cNvPr id="7" name="csc-card"/>
          <p:cNvSpPr/>
          <p:nvPr/>
        </p:nvSpPr>
        <p:spPr>
          <a:xfrm>
            <a:off x="6309360" y="1426464"/>
            <a:ext cx="5404104" cy="2706624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E3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46304" bIns="128016" compatLnSpc="1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en-US" dirty="0">
                <a:solidFill>
                  <a:srgbClr val="B04E2A"/>
                </a:solidFill>
                <a:latin typeface="Calibri"/>
                <a:ea typeface="Calibri"/>
                <a:cs typeface="Calibri"/>
              </a:rPr>
              <a:t>ActionAid and Dvara Research, 2024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 lang="en-US" dirty="0">
                <a:solidFill>
                  <a:srgbClr val="B04E2A"/>
                </a:solidFill>
                <a:latin typeface="Calibri"/>
                <a:ea typeface="Calibri"/>
                <a:cs typeface="Calibri"/>
              </a:rPr>
              <a:t>Near 30%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CSC rejection rates near 30%, mostly Aadhaar / ration-card name mismatches, unlinked mobiles, unseeded bank accounts.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en-US" dirty="0">
                <a:solidFill>
                  <a:srgbClr val="2E5A3E"/>
                </a:solidFill>
                <a:latin typeface="Calibri"/>
                <a:ea typeface="Calibri"/>
                <a:cs typeface="Calibri"/>
              </a:rPr>
              <a:t>A rejected trip costs a day's wages.</a:t>
            </a:r>
          </a:p>
        </p:txBody>
      </p:sp>
      <p:sp>
        <p:nvSpPr>
          <p:cNvPr id="8" name="majority"/>
          <p:cNvSpPr/>
          <p:nvPr/>
        </p:nvSpPr>
        <p:spPr>
          <a:xfrm>
            <a:off x="475488" y="4279392"/>
            <a:ext cx="11237976" cy="768096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2700">
            <a:solidFill>
              <a:srgbClr val="E3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73152" bIns="73152" compatLnSpc="1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Hindi, Kannada, Telugu and Tamil speakers are a majority of beneficiaries, and the portals are English-first dropdowns.</a:t>
            </a:r>
          </a:p>
        </p:txBody>
      </p:sp>
      <p:sp>
        <p:nvSpPr>
          <p:cNvPr id="9" name="close"/>
          <p:cNvSpPr/>
          <p:nvPr/>
        </p:nvSpPr>
        <p:spPr>
          <a:xfrm>
            <a:off x="475488" y="5193792"/>
            <a:ext cx="11237976" cy="1207008"/>
          </a:xfrm>
          <a:prstGeom prst="roundRect">
            <a:avLst>
              <a:gd name="adj" fmla="val 8000"/>
            </a:avLst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109728" bIns="109728" compatLnSpc="1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 lang="en-US" dirty="0">
                <a:solidFill>
                  <a:srgbClr val="F6F1E8"/>
                </a:solidFill>
                <a:latin typeface="Calibri"/>
                <a:ea typeface="Calibri"/>
                <a:cs typeface="Calibri"/>
              </a:rPr>
              <a:t>JanVaani translates speech into the form's own words.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en-US" dirty="0">
                <a:solidFill>
                  <a:srgbClr val="F6F1E8"/>
                </a:solidFill>
                <a:latin typeface="Calibri"/>
                <a:ea typeface="Calibri"/>
                <a:cs typeface="Calibri"/>
              </a:rPr>
              <a:t>The three document checks happen before the trip.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withEffect" dur="indefinite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 grpId="0" dur="560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6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6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6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6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presetID="10" presetClass="entr" presetSubtype="0" fill="hold" nodeType="withEffect" grpId="0" dur="560">
                            <p:stCondLst>
                              <p:cond delay="180"/>
                            </p:stCondLst>
                            <p:childTnLst>
                              <p:par>
                                <p:cTn id="1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6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presetID="10" presetClass="entr" presetSubtype="0" fill="hold" nodeType="withEffect" grpId="0" dur="560">
                            <p:stCondLst>
                              <p:cond delay="380"/>
                            </p:stCondLst>
                            <p:childTnLst>
                              <p:par>
                                <p:cTn id="23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6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presetID="10" presetClass="entr" presetSubtype="0" fill="hold" nodeType="withEffect" grpId="0" dur="560">
                            <p:stCondLst>
                              <p:cond delay="560"/>
                            </p:stCondLst>
                            <p:childTnLst>
                              <p:par>
                                <p:cTn id="2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6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presetID="10" presetClass="entr" presetSubtype="0" fill="hold" nodeType="withEffect" grpId="0" dur="560">
                            <p:stCondLst>
                              <p:cond delay="760"/>
                            </p:stCondLst>
                            <p:childTnLst>
                              <p:par>
                                <p:cTn id="33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6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presetID="10" presetClass="entr" presetSubtype="0" fill="hold" nodeType="afterEffect" grpId="0" dur="560">
                            <p:stCondLst>
                              <p:cond evt="end" delay="60">
                                <p:tn val="32"/>
                              </p:cond>
                            </p:stCondLst>
                            <p:childTnLst>
                              <p:par>
                                <p:cTn id="3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6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6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ordmark"/>
          <p:cNvSpPr txBox="1"/>
          <p:nvPr/>
        </p:nvSpPr>
        <p:spPr>
          <a:xfrm>
            <a:off x="475488" y="146304"/>
            <a:ext cx="6766560" cy="365760"/>
          </a:xfrm>
          <a:prstGeom prst="rect">
            <a:avLst/>
          </a:prstGeom>
          <a:noFill/>
        </p:spPr>
        <p:txBody>
          <a:bodyPr wrap="square" lIns="18288" rIns="18288" tIns="0" bIns="0" anchor="ctr" compatLnSpc="1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JanVaani</a:t>
            </a:r>
            <a:r>
              <a:rPr sz="1600" b="0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600" b="1" i="0" lang="hi-IN" dirty="0">
                <a:solidFill>
                  <a:srgbClr val="2A2018"/>
                </a:solidFill>
                <a:latin typeface="Noto Sans Devanagari"/>
                <a:ea typeface="Noto Sans Devanagari"/>
                <a:cs typeface="Noto Sans Devanagari"/>
              </a:rPr>
              <a:t>जनवाणी</a:t>
            </a:r>
          </a:p>
        </p:txBody>
      </p:sp>
      <p:sp>
        <p:nvSpPr>
          <p:cNvPr id="3" name="event"/>
          <p:cNvSpPr txBox="1"/>
          <p:nvPr/>
        </p:nvSpPr>
        <p:spPr>
          <a:xfrm>
            <a:off x="5760720" y="146304"/>
            <a:ext cx="5943600" cy="365760"/>
          </a:xfrm>
          <a:prstGeom prst="rect">
            <a:avLst/>
          </a:prstGeom>
          <a:noFill/>
        </p:spPr>
        <p:txBody>
          <a:bodyPr wrap="square" lIns="18288" rIns="18288" tIns="0" bIns="0" anchor="ctr" compatLnSpc="1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 dirty="0">
                <a:solidFill>
                  <a:srgbClr val="B04E2A"/>
                </a:solidFill>
                <a:latin typeface="Calibri"/>
                <a:ea typeface="Calibri"/>
                <a:cs typeface="Calibri"/>
              </a:rPr>
              <a:t>Ignite With Bangalore · SLNG</a:t>
            </a:r>
          </a:p>
        </p:txBody>
      </p:sp>
      <p:sp>
        <p:nvSpPr>
          <p:cNvPr id="4" name="rule"/>
          <p:cNvSpPr/>
          <p:nvPr/>
        </p:nvSpPr>
        <p:spPr>
          <a:xfrm>
            <a:off x="475488" y="548640"/>
            <a:ext cx="11237976" cy="16459"/>
          </a:xfrm>
          <a:prstGeom prst="rect">
            <a:avLst/>
          </a:prstGeom>
          <a:solidFill>
            <a:srgbClr val="B0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lm-frame"/>
          <p:cNvSpPr/>
          <p:nvPr/>
        </p:nvSpPr>
        <p:spPr>
          <a:xfrm>
            <a:off x="434340" y="1426749"/>
            <a:ext cx="7900416" cy="4479988"/>
          </a:xfrm>
          <a:prstGeom prst="rect">
            <a:avLst/>
          </a:prstGeom>
          <a:solidFill>
            <a:srgbClr val="B0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janvaani-pitch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5488" y="1467897"/>
            <a:ext cx="7818120" cy="4397692"/>
          </a:xfrm>
          <a:prstGeom prst="rect">
            <a:avLst/>
          </a:prstGeom>
        </p:spPr>
      </p:pic>
      <p:sp>
        <p:nvSpPr>
          <p:cNvPr id="7" name="film-copy"/>
          <p:cNvSpPr txBox="1"/>
          <p:nvPr/>
        </p:nvSpPr>
        <p:spPr>
          <a:xfrm>
            <a:off x="8549640" y="1984248"/>
            <a:ext cx="3166871" cy="1965960"/>
          </a:xfrm>
          <a:prstGeom prst="rect">
            <a:avLst/>
          </a:prstGeom>
          <a:noFill/>
        </p:spPr>
        <p:txBody>
          <a:bodyPr wrap="square" lIns="18288" rIns="18288" tIns="18288" bIns="18288" anchor="b" compatLnSpc="1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 dirty="0">
                <a:solidFill>
                  <a:srgbClr val="2A2018"/>
                </a:solidFill>
                <a:latin typeface="Calibri"/>
                <a:ea typeface="Calibri"/>
                <a:cs typeface="Calibri"/>
              </a:rPr>
              <a:t>A real screen recording of the app, including Live Call, plus real Wikimedia Commons photographs of the people the product is for.</a:t>
            </a:r>
          </a:p>
        </p:txBody>
      </p:sp>
      <p:sp>
        <p:nvSpPr>
          <p:cNvPr id="8" name="silent-note"/>
          <p:cNvSpPr/>
          <p:nvPr/>
        </p:nvSpPr>
        <p:spPr>
          <a:xfrm>
            <a:off x="8549640" y="4114800"/>
            <a:ext cx="3166871" cy="1234440"/>
          </a:xfrm>
          <a:prstGeom prst="roundRect">
            <a:avLst>
              <a:gd name="adj" fmla="val 12000"/>
            </a:avLst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 compatLnSpc="1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 dirty="0">
                <a:solidFill>
                  <a:srgbClr val="F6F1E8"/>
                </a:solidFill>
                <a:latin typeface="Calibri"/>
                <a:ea typeface="Calibri"/>
                <a:cs typeface="Calibri"/>
              </a:rPr>
              <a:t>The film is silent. It plays inside this slide.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withEffect" dur="indefinite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 grpId="0" dur="560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6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6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6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6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presetID="10" presetClass="entr" presetSubtype="0" fill="hold" nodeType="withEffect" grpId="0" dur="560">
                            <p:stCondLst>
                              <p:cond delay="200"/>
                            </p:stCondLst>
                            <p:childTnLst>
                              <p:par>
                                <p:cTn id="1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6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6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presetID="10" presetClass="entr" presetSubtype="0" fill="hold" nodeType="withEffect" grpId="0" dur="560">
                            <p:stCondLst>
                              <p:cond delay="420"/>
                            </p:stCondLst>
                            <p:childTnLst>
                              <p:par>
                                <p:cTn id="2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6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presetID="10" presetClass="entr" presetSubtype="0" fill="hold" nodeType="afterEffect" grpId="0" dur="560">
                            <p:stCondLst>
                              <p:cond evt="end" delay="40">
                                <p:tn val="26"/>
                              </p:cond>
                            </p:stCondLst>
                            <p:childTnLst>
                              <p:par>
                                <p:cTn id="3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6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6" fill="hold" display="0">
                  <p:stCondLst>
                    <p:cond delay="0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JanVaani</dc:title>
  <dc:subject>Ignite With Bangalore · SLNG</dc:subject>
  <dc:creator>Aman Tebriwal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Pitch</cp:category>
</cp:coreProperties>
</file>